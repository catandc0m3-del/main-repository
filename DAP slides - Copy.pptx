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</p:sldMasterIdLst>
  <p:notesMasterIdLst>
    <p:notesMasterId r:id="rId31"/>
  </p:notesMasterIdLst>
  <p:sldIdLst>
    <p:sldId id="256" r:id="rId3"/>
    <p:sldId id="257" r:id="rId4"/>
    <p:sldId id="316" r:id="rId5"/>
    <p:sldId id="258" r:id="rId6"/>
    <p:sldId id="315" r:id="rId7"/>
    <p:sldId id="317" r:id="rId8"/>
    <p:sldId id="266" r:id="rId9"/>
    <p:sldId id="318" r:id="rId10"/>
    <p:sldId id="319" r:id="rId11"/>
    <p:sldId id="320" r:id="rId12"/>
    <p:sldId id="321" r:id="rId13"/>
    <p:sldId id="322" r:id="rId14"/>
    <p:sldId id="331" r:id="rId15"/>
    <p:sldId id="265" r:id="rId16"/>
    <p:sldId id="323" r:id="rId17"/>
    <p:sldId id="325" r:id="rId18"/>
    <p:sldId id="312" r:id="rId19"/>
    <p:sldId id="326" r:id="rId20"/>
    <p:sldId id="327" r:id="rId21"/>
    <p:sldId id="330" r:id="rId22"/>
    <p:sldId id="262" r:id="rId23"/>
    <p:sldId id="263" r:id="rId24"/>
    <p:sldId id="273" r:id="rId25"/>
    <p:sldId id="313" r:id="rId26"/>
    <p:sldId id="314" r:id="rId27"/>
    <p:sldId id="287" r:id="rId28"/>
    <p:sldId id="328" r:id="rId29"/>
    <p:sldId id="311" r:id="rId30"/>
  </p:sldIdLst>
  <p:sldSz cx="9144000" cy="5143500" type="screen16x9"/>
  <p:notesSz cx="6858000" cy="9144000"/>
  <p:embeddedFontLst>
    <p:embeddedFont>
      <p:font typeface="DM Sans" pitchFamily="2" charset="0"/>
      <p:regular r:id="rId32"/>
      <p:bold r:id="rId33"/>
      <p:italic r:id="rId34"/>
      <p:boldItalic r:id="rId35"/>
    </p:embeddedFont>
    <p:embeddedFont>
      <p:font typeface="Kumbh Sans" panose="020B0604020202020204" charset="0"/>
      <p:regular r:id="rId36"/>
      <p:bold r:id="rId37"/>
    </p:embeddedFont>
    <p:embeddedFont>
      <p:font typeface="Nunito Light" pitchFamily="2" charset="0"/>
      <p:regular r:id="rId38"/>
      <p:italic r:id="rId39"/>
    </p:embeddedFont>
    <p:embeddedFont>
      <p:font typeface="Outfit" panose="020B0604020202020204" charset="0"/>
      <p:regular r:id="rId40"/>
      <p:bold r:id="rId41"/>
    </p:embeddedFont>
    <p:embeddedFont>
      <p:font typeface="Proxima Nova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A8E0D5-50BF-4E48-8F86-20DAB3A2D3E6}">
  <a:tblStyle styleId="{ABA8E0D5-50BF-4E48-8F86-20DAB3A2D3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e71a4a866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e71a4a866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" name="Google Shape;11243;g295e6f74830_0_22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4" name="Google Shape;11244;g295e6f74830_0_22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rot="10800000" flipH="1">
              <a:off x="-118698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rot="10800000" flipH="1">
              <a:off x="-519458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1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2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3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4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6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7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 rot="10800000" flipH="1">
              <a:off x="-266473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rot="10800000" flipH="1">
              <a:off x="-151033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subTitle" idx="1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subTitle" idx="2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subTitle" idx="3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4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5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6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ubTitle" idx="7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subTitle" idx="8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ubTitle" idx="9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subTitle" idx="13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14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15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9" r:id="rId5"/>
    <p:sldLayoutId id="2147483661" r:id="rId6"/>
    <p:sldLayoutId id="2147483670" r:id="rId7"/>
    <p:sldLayoutId id="2147483673" r:id="rId8"/>
    <p:sldLayoutId id="2147483674" r:id="rId9"/>
    <p:sldLayoutId id="2147483677" r:id="rId10"/>
    <p:sldLayoutId id="214748367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gov.s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 dirty="0"/>
              <a:t>Perform data collection </a:t>
            </a:r>
            <a:br>
              <a:rPr lang="en-SG" sz="2400" dirty="0"/>
            </a:br>
            <a:r>
              <a:rPr lang="en-SG" sz="2400" dirty="0"/>
              <a:t>and preprocessing tasks.</a:t>
            </a:r>
            <a:endParaRPr sz="2400" dirty="0"/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By: Choy </a:t>
            </a:r>
            <a:r>
              <a:rPr lang="en-SG" dirty="0" err="1"/>
              <a:t>Chengfeng</a:t>
            </a:r>
            <a:endParaRPr lang="en-S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ID: H9990081A</a:t>
            </a:r>
            <a:endParaRPr dirty="0"/>
          </a:p>
        </p:txBody>
      </p:sp>
      <p:grpSp>
        <p:nvGrpSpPr>
          <p:cNvPr id="347" name="Google Shape;347;p36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 (4Ws)</a:t>
            </a:r>
            <a:endParaRPr dirty="0"/>
          </a:p>
        </p:txBody>
      </p:sp>
      <p:sp>
        <p:nvSpPr>
          <p:cNvPr id="373" name="Google Shape;373;p37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What is the problem relating this project. </a:t>
            </a:r>
            <a:endParaRPr dirty="0"/>
          </a:p>
        </p:txBody>
      </p:sp>
      <p:sp>
        <p:nvSpPr>
          <p:cNvPr id="374" name="Google Shape;374;p37"/>
          <p:cNvSpPr txBox="1"/>
          <p:nvPr/>
        </p:nvSpPr>
        <p:spPr>
          <a:xfrm>
            <a:off x="460601" y="4061600"/>
            <a:ext cx="324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5" name="Google Shape;375;p37"/>
          <p:cNvSpPr txBox="1"/>
          <p:nvPr/>
        </p:nvSpPr>
        <p:spPr>
          <a:xfrm>
            <a:off x="4424779" y="4061600"/>
            <a:ext cx="384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376" name="Google Shape;376;p37"/>
          <p:cNvGraphicFramePr/>
          <p:nvPr>
            <p:extLst>
              <p:ext uri="{D42A27DB-BD31-4B8C-83A1-F6EECF244321}">
                <p14:modId xmlns:p14="http://schemas.microsoft.com/office/powerpoint/2010/main" val="2018233268"/>
              </p:ext>
            </p:extLst>
          </p:nvPr>
        </p:nvGraphicFramePr>
        <p:xfrm>
          <a:off x="872704" y="1811577"/>
          <a:ext cx="7398675" cy="1898584"/>
        </p:xfrm>
        <a:graphic>
          <a:graphicData uri="http://schemas.openxmlformats.org/drawingml/2006/table">
            <a:tbl>
              <a:tblPr>
                <a:noFill/>
                <a:tableStyleId>{ABA8E0D5-50BF-4E48-8F86-20DAB3A2D3E6}</a:tableStyleId>
              </a:tblPr>
              <a:tblGrid>
                <a:gridCol w="20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6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Who</a:t>
                      </a:r>
                      <a:endParaRPr sz="11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SG" sz="10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Singapore Tourism Board (STB) and hotel operators who need to plan resources and marketing strategies 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What</a:t>
                      </a:r>
                      <a:endParaRPr sz="1100" b="1" u="sng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Predict international visitor arrivals and hotel arrivals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Where</a:t>
                      </a:r>
                      <a:endParaRPr sz="11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0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Singapore’s hotel and tourism sector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Why </a:t>
                      </a:r>
                      <a:endParaRPr sz="11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b="0" u="none" dirty="0">
                          <a:solidFill>
                            <a:schemeClr val="dk1"/>
                          </a:solidFill>
                          <a:latin typeface="DM Sans" pitchFamily="2" charset="0"/>
                          <a:ea typeface="DM Sans"/>
                          <a:cs typeface="DM Sans"/>
                          <a:sym typeface="DM Sans"/>
                        </a:rPr>
                        <a:t>Identify patterns in historical tourism and hotel data to predict visitor arrivals for </a:t>
                      </a:r>
                      <a:r>
                        <a:rPr lang="en-SG" sz="10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capacity planning, resource allocation, and marketing decisions</a:t>
                      </a:r>
                      <a:r>
                        <a:rPr lang="en-SG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lang="en" sz="1000" b="0" u="none" dirty="0">
                        <a:solidFill>
                          <a:schemeClr val="dk1"/>
                        </a:solidFill>
                        <a:latin typeface="DM Sans" pitchFamily="2" charset="0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E966C-D44A-05A7-4888-E662410C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82" y="1914633"/>
            <a:ext cx="7728542" cy="657117"/>
          </a:xfrm>
        </p:spPr>
        <p:txBody>
          <a:bodyPr/>
          <a:lstStyle/>
          <a:p>
            <a:r>
              <a:rPr lang="en-SG" dirty="0"/>
              <a:t>Part  1</a:t>
            </a:r>
          </a:p>
        </p:txBody>
      </p:sp>
    </p:spTree>
    <p:extLst>
      <p:ext uri="{BB962C8B-B14F-4D97-AF65-F5344CB8AC3E}">
        <p14:creationId xmlns:p14="http://schemas.microsoft.com/office/powerpoint/2010/main" val="3087751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751316" y="686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Sources</a:t>
            </a:r>
            <a:endParaRPr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D3A4930-D219-7F42-E7E8-7C8D061A4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835594"/>
              </p:ext>
            </p:extLst>
          </p:nvPr>
        </p:nvGraphicFramePr>
        <p:xfrm>
          <a:off x="1766316" y="1450340"/>
          <a:ext cx="5611368" cy="2836230"/>
        </p:xfrm>
        <a:graphic>
          <a:graphicData uri="http://schemas.openxmlformats.org/drawingml/2006/table">
            <a:tbl>
              <a:tblPr/>
              <a:tblGrid>
                <a:gridCol w="2805684">
                  <a:extLst>
                    <a:ext uri="{9D8B030D-6E8A-4147-A177-3AD203B41FA5}">
                      <a16:colId xmlns:a16="http://schemas.microsoft.com/office/drawing/2014/main" val="1879115085"/>
                    </a:ext>
                  </a:extLst>
                </a:gridCol>
                <a:gridCol w="2805684">
                  <a:extLst>
                    <a:ext uri="{9D8B030D-6E8A-4147-A177-3AD203B41FA5}">
                      <a16:colId xmlns:a16="http://schemas.microsoft.com/office/drawing/2014/main" val="1112118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SG" sz="1125" b="1">
                          <a:effectLst/>
                          <a:latin typeface="DM Sans" pitchFamily="2" charset="0"/>
                        </a:rPr>
                        <a:t>Primary API</a:t>
                      </a:r>
                      <a:endParaRPr lang="en-SG" sz="1125" b="0">
                        <a:effectLst/>
                        <a:latin typeface="DM Sans" pitchFamily="2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SG" sz="1125" b="1" dirty="0">
                          <a:effectLst/>
                          <a:latin typeface="DM Sans" pitchFamily="2" charset="0"/>
                        </a:rPr>
                        <a:t>Secondary API</a:t>
                      </a:r>
                      <a:endParaRPr lang="en-SG" sz="1125" b="0" dirty="0">
                        <a:effectLst/>
                        <a:latin typeface="DM Sans" pitchFamily="2" charset="0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12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125" b="1">
                          <a:effectLst/>
                          <a:latin typeface="DM Sans" pitchFamily="2" charset="0"/>
                        </a:rPr>
                        <a:t>Source:</a:t>
                      </a:r>
                      <a:r>
                        <a:rPr lang="en-SG" sz="1125" b="0">
                          <a:effectLst/>
                          <a:latin typeface="DM Sans" pitchFamily="2" charset="0"/>
                        </a:rPr>
                        <a:t> Singapore Tourism Board (</a:t>
                      </a:r>
                      <a:r>
                        <a:rPr lang="en-SG" sz="1125" b="0" u="none" strike="noStrike">
                          <a:solidFill>
                            <a:srgbClr val="3964FE"/>
                          </a:solidFill>
                          <a:effectLst/>
                          <a:latin typeface="DM Sans" pitchFamily="2" charset="0"/>
                          <a:hlinkClick r:id="rId3"/>
                        </a:rPr>
                        <a:t>data.gov.sg</a:t>
                      </a:r>
                      <a:r>
                        <a:rPr lang="en-SG" sz="1125" b="0">
                          <a:effectLst/>
                          <a:latin typeface="DM Sans" pitchFamily="2" charset="0"/>
                        </a:rPr>
                        <a:t>)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125" b="1" dirty="0">
                          <a:effectLst/>
                          <a:latin typeface="DM Sans" pitchFamily="2" charset="0"/>
                        </a:rPr>
                        <a:t>Source:</a:t>
                      </a:r>
                      <a:r>
                        <a:rPr lang="en-SG" sz="1125" b="0" dirty="0">
                          <a:effectLst/>
                          <a:latin typeface="DM Sans" pitchFamily="2" charset="0"/>
                        </a:rPr>
                        <a:t> Singapore Tourism Board (</a:t>
                      </a:r>
                      <a:r>
                        <a:rPr lang="en-SG" sz="1125" b="0" u="none" strike="noStrike" dirty="0">
                          <a:solidFill>
                            <a:srgbClr val="3964FE"/>
                          </a:solidFill>
                          <a:effectLst/>
                          <a:latin typeface="DM Sans" pitchFamily="2" charset="0"/>
                          <a:hlinkClick r:id="rId3"/>
                        </a:rPr>
                        <a:t>data.gov.sg</a:t>
                      </a:r>
                      <a:r>
                        <a:rPr lang="en-SG" sz="1125" b="0" dirty="0">
                          <a:effectLst/>
                          <a:latin typeface="DM Sans" pitchFamily="2" charset="0"/>
                        </a:rPr>
                        <a:t>)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63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125" b="1">
                          <a:effectLst/>
                          <a:latin typeface="DM Sans" pitchFamily="2" charset="0"/>
                        </a:rPr>
                        <a:t>Dataset:</a:t>
                      </a:r>
                      <a:r>
                        <a:rPr lang="en-SG" sz="1125" b="0">
                          <a:effectLst/>
                          <a:latin typeface="DM Sans" pitchFamily="2" charset="0"/>
                        </a:rPr>
                        <a:t> International Visitor Arrivals by Place of Residence (Monthly)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125" b="1" dirty="0">
                          <a:effectLst/>
                          <a:latin typeface="DM Sans" pitchFamily="2" charset="0"/>
                        </a:rPr>
                        <a:t>Dataset:</a:t>
                      </a:r>
                      <a:r>
                        <a:rPr lang="en-SG" sz="1125" b="0" dirty="0">
                          <a:effectLst/>
                          <a:latin typeface="DM Sans" pitchFamily="2" charset="0"/>
                        </a:rPr>
                        <a:t> Singapore Tourism Integrated 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SG" sz="1125" b="0" dirty="0">
                        <a:effectLst/>
                        <a:latin typeface="DM Sans" pitchFamily="2" charset="0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76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125" b="1">
                          <a:effectLst/>
                          <a:latin typeface="DM Sans" pitchFamily="2" charset="0"/>
                        </a:rPr>
                        <a:t>Time Period:</a:t>
                      </a:r>
                      <a:r>
                        <a:rPr lang="en-SG" sz="1125" b="0">
                          <a:effectLst/>
                          <a:latin typeface="DM Sans" pitchFamily="2" charset="0"/>
                        </a:rPr>
                        <a:t> 2008–2026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125" b="1">
                          <a:effectLst/>
                          <a:latin typeface="DM Sans" pitchFamily="2" charset="0"/>
                        </a:rPr>
                        <a:t>Time Period:</a:t>
                      </a:r>
                      <a:r>
                        <a:rPr lang="en-SG" sz="1125" b="0">
                          <a:effectLst/>
                          <a:latin typeface="DM Sans" pitchFamily="2" charset="0"/>
                        </a:rPr>
                        <a:t> 2008–2026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115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125" b="1" dirty="0">
                          <a:effectLst/>
                          <a:latin typeface="DM Sans" pitchFamily="2" charset="0"/>
                        </a:rPr>
                        <a:t>Key Columns:</a:t>
                      </a:r>
                      <a:r>
                        <a:rPr lang="en-SG" sz="1125" b="0" dirty="0">
                          <a:effectLst/>
                          <a:latin typeface="DM Sans" pitchFamily="2" charset="0"/>
                        </a:rPr>
                        <a:t> Date, , Arrivals Count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125" b="1" dirty="0">
                          <a:effectLst/>
                          <a:latin typeface="DM Sans" pitchFamily="2" charset="0"/>
                        </a:rPr>
                        <a:t>Key Columns:</a:t>
                      </a:r>
                      <a:r>
                        <a:rPr lang="en-SG" sz="1125" b="0" dirty="0">
                          <a:effectLst/>
                          <a:latin typeface="DM Sans" pitchFamily="2" charset="0"/>
                        </a:rPr>
                        <a:t> Date, Average Occupancy Rate, Room Revenue, Gross Lettings, Available Room Nights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64043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E878E7E-8542-756C-5C6A-17E0AF794DFF}"/>
              </a:ext>
            </a:extLst>
          </p:cNvPr>
          <p:cNvSpPr txBox="1"/>
          <p:nvPr/>
        </p:nvSpPr>
        <p:spPr>
          <a:xfrm>
            <a:off x="1766316" y="537989"/>
            <a:ext cx="50002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endParaRPr lang="en-SG" sz="2000" b="1" dirty="0">
              <a:solidFill>
                <a:srgbClr val="0F1115"/>
              </a:solidFill>
              <a:effectLst/>
              <a:latin typeface="DM Sans" pitchFamily="2" charset="0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SG" sz="1000" b="1" i="0" dirty="0">
                <a:solidFill>
                  <a:schemeClr val="tx1"/>
                </a:solidFill>
                <a:effectLst/>
                <a:latin typeface="DM Sans" pitchFamily="2" charset="0"/>
              </a:rPr>
              <a:t>Data Collected:</a:t>
            </a:r>
            <a:r>
              <a:rPr lang="en-SG" sz="1000" b="0" i="0" dirty="0">
                <a:solidFill>
                  <a:schemeClr val="tx1"/>
                </a:solidFill>
                <a:effectLst/>
                <a:latin typeface="DM Sans" pitchFamily="2" charset="0"/>
              </a:rPr>
              <a:t> Monthly tourism arrivals and hotel statistics merged on date to create a unified time-series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1E61-6CD3-96A1-CE48-FA5629F6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APIs obtained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5FA99-65F7-9E81-15C9-ABF764CE3714}"/>
              </a:ext>
            </a:extLst>
          </p:cNvPr>
          <p:cNvSpPr txBox="1"/>
          <p:nvPr/>
        </p:nvSpPr>
        <p:spPr>
          <a:xfrm>
            <a:off x="1106367" y="979382"/>
            <a:ext cx="1851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tx1"/>
                </a:solidFill>
                <a:latin typeface="DM Sans" pitchFamily="2" charset="0"/>
              </a:rPr>
              <a:t>Primary API</a:t>
            </a:r>
            <a:r>
              <a:rPr lang="en-SG" dirty="0">
                <a:latin typeface="DM Sans" pitchFamily="2" charset="0"/>
              </a:rPr>
              <a:t>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D1ABA8-4B4C-3E62-D4D7-14535BF0963E}"/>
              </a:ext>
            </a:extLst>
          </p:cNvPr>
          <p:cNvSpPr txBox="1"/>
          <p:nvPr/>
        </p:nvSpPr>
        <p:spPr>
          <a:xfrm>
            <a:off x="955062" y="2637251"/>
            <a:ext cx="1851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tx1"/>
                </a:solidFill>
                <a:latin typeface="DM Sans" pitchFamily="2" charset="0"/>
              </a:rPr>
              <a:t>Secondary API</a:t>
            </a:r>
            <a:r>
              <a:rPr lang="en-SG" dirty="0">
                <a:latin typeface="DM Sans" pitchFamily="2" charset="0"/>
              </a:rPr>
              <a:t>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23DC2FE-66CA-7454-94FA-EF9387988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02" y="1287159"/>
            <a:ext cx="8083682" cy="12345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962977E-4EDE-0757-A62C-68B9737A6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93" y="3167374"/>
            <a:ext cx="6607113" cy="12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27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807F-1CE6-19F8-36CD-A80A807F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38" y="2228748"/>
            <a:ext cx="7704000" cy="572700"/>
          </a:xfrm>
        </p:spPr>
        <p:txBody>
          <a:bodyPr/>
          <a:lstStyle/>
          <a:p>
            <a:r>
              <a:rPr lang="en-SG" dirty="0"/>
              <a:t>Part  2</a:t>
            </a:r>
          </a:p>
        </p:txBody>
      </p:sp>
    </p:spTree>
    <p:extLst>
      <p:ext uri="{BB962C8B-B14F-4D97-AF65-F5344CB8AC3E}">
        <p14:creationId xmlns:p14="http://schemas.microsoft.com/office/powerpoint/2010/main" val="465573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6"/>
          <p:cNvSpPr txBox="1">
            <a:spLocks noGrp="1"/>
          </p:cNvSpPr>
          <p:nvPr>
            <p:ph type="title"/>
          </p:nvPr>
        </p:nvSpPr>
        <p:spPr>
          <a:xfrm>
            <a:off x="803472" y="1715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Quality Issues</a:t>
            </a:r>
            <a:endParaRPr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A8125A-8BFA-75A5-3889-CC81EBD68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29" y="849481"/>
            <a:ext cx="8093141" cy="34445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C4AB-6C58-7659-0F2F-62E32B87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I handled them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1CBA8-C7A2-6FF5-3516-E39115620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SG" dirty="0"/>
              <a:t>Missing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5BAE1-70EC-3F57-E5A9-ABA6F4BE9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29" y="1983677"/>
            <a:ext cx="2071182" cy="2491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ECE75-8DAD-B592-F43F-249CCA6D7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703" y="1993909"/>
            <a:ext cx="2541493" cy="2451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34E22F-9566-4638-80DD-B067A9760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644" y="2024261"/>
            <a:ext cx="3350827" cy="239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3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E368-F909-7199-2D1A-0DEBC8C04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Missing Values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0F35C-71CA-3E97-DB36-32EDED49C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6EC01B-F1F0-14F5-1C9A-3B424128A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04" y="1111921"/>
            <a:ext cx="7512050" cy="379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21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E0D6-6FDA-4D60-B506-F52CAB83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I handled them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3394-4E49-5A79-203A-7AC1A6E7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Duplicates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EB1C7-3494-FD49-C51F-EF94AF25B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23" y="1811577"/>
            <a:ext cx="3795509" cy="2808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6E7861-D42C-627D-751D-18FB0C304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849" y="2249165"/>
            <a:ext cx="4092295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28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0B18-90F0-3DC5-97B7-E85D5A76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I handled them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03405-C330-7154-4E27-D65EBC39E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SG" dirty="0"/>
              <a:t>Outliers. I visualize first</a:t>
            </a:r>
          </a:p>
          <a:p>
            <a:pPr marL="139700" indent="0">
              <a:buNone/>
            </a:pP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9D6BE7-8645-54FF-EA16-BD2EDDD84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" y="1811577"/>
            <a:ext cx="9144000" cy="138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2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C2F8-BD05-F7D9-991D-7494DD91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0125"/>
            <a:ext cx="7704000" cy="572700"/>
          </a:xfrm>
        </p:spPr>
        <p:txBody>
          <a:bodyPr/>
          <a:lstStyle/>
          <a:p>
            <a:r>
              <a:rPr lang="en-SG" dirty="0"/>
              <a:t>How I handled them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54584-EF91-734A-8B88-091EBBF9B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287" y="906658"/>
            <a:ext cx="7704000" cy="397800"/>
          </a:xfrm>
        </p:spPr>
        <p:txBody>
          <a:bodyPr/>
          <a:lstStyle/>
          <a:p>
            <a:pPr marL="139700" indent="0">
              <a:buNone/>
            </a:pPr>
            <a:r>
              <a:rPr lang="en-SG" dirty="0"/>
              <a:t>Outliers </a:t>
            </a:r>
            <a:r>
              <a:rPr lang="en-SG" dirty="0" err="1"/>
              <a:t>continous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00095-C8F9-4E32-73B0-C184B2C56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812" y="1304458"/>
            <a:ext cx="3705223" cy="2498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3484FA-BF2B-0E1D-BC50-6649CBBB4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76" y="842825"/>
            <a:ext cx="2876524" cy="25729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92E42F-131F-20B8-707C-58DD717A2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41" y="459176"/>
            <a:ext cx="2241548" cy="266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17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B8917-DE5F-C757-EA4C-4B61FF1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</p:spPr>
        <p:txBody>
          <a:bodyPr/>
          <a:lstStyle/>
          <a:p>
            <a:r>
              <a:rPr lang="en-SG" dirty="0"/>
              <a:t>Part  3</a:t>
            </a:r>
          </a:p>
        </p:txBody>
      </p:sp>
    </p:spTree>
    <p:extLst>
      <p:ext uri="{BB962C8B-B14F-4D97-AF65-F5344CB8AC3E}">
        <p14:creationId xmlns:p14="http://schemas.microsoft.com/office/powerpoint/2010/main" val="463704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5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Engineering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D07D88-6D6A-A3F8-E650-67FEEA6D2A27}"/>
              </a:ext>
            </a:extLst>
          </p:cNvPr>
          <p:cNvSpPr txBox="1"/>
          <p:nvPr/>
        </p:nvSpPr>
        <p:spPr>
          <a:xfrm>
            <a:off x="2011352" y="621913"/>
            <a:ext cx="5121296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endParaRPr lang="en-SG" sz="20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SG" sz="2400" b="1" i="0" dirty="0">
                <a:solidFill>
                  <a:schemeClr val="tx1"/>
                </a:solidFill>
                <a:effectLst/>
                <a:latin typeface="DM Sans" pitchFamily="2" charset="0"/>
              </a:rPr>
              <a:t>Why Feature Engineering Matters:</a:t>
            </a:r>
            <a:br>
              <a:rPr lang="en-SG" sz="2400" b="0" i="0" dirty="0">
                <a:solidFill>
                  <a:schemeClr val="tx1"/>
                </a:solidFill>
                <a:effectLst/>
                <a:latin typeface="DM Sans" pitchFamily="2" charset="0"/>
              </a:rPr>
            </a:br>
            <a:r>
              <a:rPr lang="en-SG" sz="2400" b="0" i="0" dirty="0">
                <a:solidFill>
                  <a:schemeClr val="tx1"/>
                </a:solidFill>
                <a:effectLst/>
                <a:latin typeface="DM Sans" pitchFamily="2" charset="0"/>
              </a:rPr>
              <a:t>Raw data only tells "what" happened. Engineered features tell the model "why" and "how" it happened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6195-AF53-925B-3CEC-5FBAC144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</p:spPr>
        <p:txBody>
          <a:bodyPr/>
          <a:lstStyle/>
          <a:p>
            <a:r>
              <a:rPr lang="en-SG" dirty="0"/>
              <a:t>Feature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F74FA-2A5F-42A1-D9A7-CF3233F15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9491" y="663164"/>
            <a:ext cx="7704000" cy="397800"/>
          </a:xfrm>
        </p:spPr>
        <p:txBody>
          <a:bodyPr/>
          <a:lstStyle/>
          <a:p>
            <a:pPr marL="139700" indent="0">
              <a:buNone/>
            </a:pPr>
            <a:r>
              <a:rPr lang="en-SG" dirty="0"/>
              <a:t>Features created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E123BC-986A-F9D9-C10D-6CAACE0A6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394897"/>
              </p:ext>
            </p:extLst>
          </p:nvPr>
        </p:nvGraphicFramePr>
        <p:xfrm>
          <a:off x="1854410" y="1060964"/>
          <a:ext cx="5243703" cy="4128903"/>
        </p:xfrm>
        <a:graphic>
          <a:graphicData uri="http://schemas.openxmlformats.org/drawingml/2006/table">
            <a:tbl>
              <a:tblPr/>
              <a:tblGrid>
                <a:gridCol w="1747901">
                  <a:extLst>
                    <a:ext uri="{9D8B030D-6E8A-4147-A177-3AD203B41FA5}">
                      <a16:colId xmlns:a16="http://schemas.microsoft.com/office/drawing/2014/main" val="1349284907"/>
                    </a:ext>
                  </a:extLst>
                </a:gridCol>
                <a:gridCol w="1747901">
                  <a:extLst>
                    <a:ext uri="{9D8B030D-6E8A-4147-A177-3AD203B41FA5}">
                      <a16:colId xmlns:a16="http://schemas.microsoft.com/office/drawing/2014/main" val="437159805"/>
                    </a:ext>
                  </a:extLst>
                </a:gridCol>
                <a:gridCol w="1747901">
                  <a:extLst>
                    <a:ext uri="{9D8B030D-6E8A-4147-A177-3AD203B41FA5}">
                      <a16:colId xmlns:a16="http://schemas.microsoft.com/office/drawing/2014/main" val="3217569181"/>
                    </a:ext>
                  </a:extLst>
                </a:gridCol>
              </a:tblGrid>
              <a:tr h="35957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SG" sz="1000" b="1" dirty="0">
                          <a:effectLst/>
                          <a:latin typeface="DM Sans" pitchFamily="2" charset="0"/>
                        </a:rPr>
                        <a:t>Feature Type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SG" sz="1000" b="1">
                          <a:effectLst/>
                          <a:latin typeface="DM Sans" pitchFamily="2" charset="0"/>
                        </a:rPr>
                        <a:t>Features Created</a:t>
                      </a:r>
                      <a:endParaRPr lang="en-SG" sz="1000" b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SG" sz="1000" b="1">
                          <a:effectLst/>
                          <a:latin typeface="DM Sans" pitchFamily="2" charset="0"/>
                        </a:rPr>
                        <a:t>Business Purpose</a:t>
                      </a:r>
                      <a:endParaRPr lang="en-SG" sz="1000" b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98783"/>
                  </a:ext>
                </a:extLst>
              </a:tr>
              <a:tr h="8589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>
                          <a:effectLst/>
                          <a:latin typeface="DM Sans" pitchFamily="2" charset="0"/>
                        </a:rPr>
                        <a:t>Lag Features</a:t>
                      </a:r>
                      <a:endParaRPr lang="en-SG" sz="1000" b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SG" sz="900" b="0" dirty="0">
                          <a:effectLst/>
                          <a:latin typeface="DM Sans" pitchFamily="2" charset="0"/>
                        </a:rPr>
                        <a:t>arrivals_lag_1</a:t>
                      </a: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, </a:t>
                      </a:r>
                      <a:r>
                        <a:rPr lang="en-SG" sz="900" b="0" dirty="0">
                          <a:effectLst/>
                          <a:latin typeface="DM Sans" pitchFamily="2" charset="0"/>
                        </a:rPr>
                        <a:t>arrivals_lag_3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Capture momentum—what happened last month/quarter.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527544"/>
                  </a:ext>
                </a:extLst>
              </a:tr>
              <a:tr h="6092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>
                          <a:effectLst/>
                          <a:latin typeface="DM Sans" pitchFamily="2" charset="0"/>
                        </a:rPr>
                        <a:t>Moving Averages</a:t>
                      </a:r>
                      <a:endParaRPr lang="en-SG" sz="1000" b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SG" sz="900" b="0" dirty="0">
                          <a:effectLst/>
                          <a:latin typeface="DM Sans" pitchFamily="2" charset="0"/>
                        </a:rPr>
                        <a:t>arrivals_ma_3</a:t>
                      </a: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, </a:t>
                      </a:r>
                      <a:r>
                        <a:rPr lang="en-SG" sz="900" b="0" dirty="0">
                          <a:effectLst/>
                          <a:latin typeface="DM Sans" pitchFamily="2" charset="0"/>
                        </a:rPr>
                        <a:t>arrivals_ma_6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Smooth short-term noise to reveal underlying trends.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057673"/>
                  </a:ext>
                </a:extLst>
              </a:tr>
              <a:tr h="6092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>
                          <a:effectLst/>
                          <a:latin typeface="DM Sans" pitchFamily="2" charset="0"/>
                        </a:rPr>
                        <a:t>Growth Rates</a:t>
                      </a:r>
                      <a:endParaRPr lang="en-SG" sz="1000" b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>
                          <a:effectLst/>
                          <a:latin typeface="DM Sans" pitchFamily="2" charset="0"/>
                        </a:rPr>
                        <a:t>YoY Growth, MoM Change</a:t>
                      </a: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>
                          <a:effectLst/>
                          <a:latin typeface="DM Sans" pitchFamily="2" charset="0"/>
                        </a:rPr>
                        <a:t>Capture trends and acceleration/deceleration.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330841"/>
                  </a:ext>
                </a:extLst>
              </a:tr>
              <a:tr h="8589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>
                          <a:effectLst/>
                          <a:latin typeface="DM Sans" pitchFamily="2" charset="0"/>
                        </a:rPr>
                        <a:t>Ratio Features</a:t>
                      </a:r>
                      <a:endParaRPr lang="en-SG" sz="1000" b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>
                          <a:effectLst/>
                          <a:latin typeface="DM Sans" pitchFamily="2" charset="0"/>
                        </a:rPr>
                        <a:t>Arrivals to Occupancy, Arrivals to Room Nights</a:t>
                      </a: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>
                          <a:effectLst/>
                          <a:latin typeface="DM Sans" pitchFamily="2" charset="0"/>
                        </a:rPr>
                        <a:t>Capture supply-demand balance and crowding pressure.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806072"/>
                  </a:ext>
                </a:extLst>
              </a:tr>
              <a:tr h="6092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>
                          <a:effectLst/>
                          <a:latin typeface="DM Sans" pitchFamily="2" charset="0"/>
                        </a:rPr>
                        <a:t>Seasonal Indicators</a:t>
                      </a:r>
                      <a:endParaRPr lang="en-SG" sz="1000" b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>
                          <a:effectLst/>
                          <a:latin typeface="DM Sans" pitchFamily="2" charset="0"/>
                        </a:rPr>
                        <a:t>Peak Season Flag, Month, Quarter</a:t>
                      </a: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Capture cyclical patterns (holidays, school breaks).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465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777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BBD-977E-61A5-91A2-6058A94C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Feature Selection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EC2E1-7E3B-9041-E3C1-F5327F39B2C1}"/>
              </a:ext>
            </a:extLst>
          </p:cNvPr>
          <p:cNvSpPr txBox="1"/>
          <p:nvPr/>
        </p:nvSpPr>
        <p:spPr>
          <a:xfrm>
            <a:off x="2162041" y="1251680"/>
            <a:ext cx="4826356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SG" sz="1500" b="1" dirty="0">
                <a:solidFill>
                  <a:srgbClr val="0F1115"/>
                </a:solidFill>
                <a:effectLst/>
                <a:latin typeface="DM Sans" pitchFamily="2" charset="0"/>
              </a:rPr>
              <a:t>Feature Selection Process: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SG" sz="1200" b="1" i="0" dirty="0">
                <a:solidFill>
                  <a:srgbClr val="0F1115"/>
                </a:solidFill>
                <a:effectLst/>
                <a:latin typeface="DM Sans" pitchFamily="2" charset="0"/>
              </a:rPr>
              <a:t>Correlation Analysis:</a:t>
            </a:r>
            <a:r>
              <a:rPr lang="en-SG" sz="1200" b="0" i="0" dirty="0">
                <a:solidFill>
                  <a:srgbClr val="0F1115"/>
                </a:solidFill>
                <a:effectLst/>
                <a:latin typeface="DM Sans" pitchFamily="2" charset="0"/>
              </a:rPr>
              <a:t> Identified features with strong correlation to target.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SG" sz="1200" b="1" i="0" dirty="0">
                <a:solidFill>
                  <a:srgbClr val="0F1115"/>
                </a:solidFill>
                <a:effectLst/>
                <a:latin typeface="DM Sans" pitchFamily="2" charset="0"/>
              </a:rPr>
              <a:t>Threshold Selection:</a:t>
            </a:r>
            <a:r>
              <a:rPr lang="en-SG" sz="1200" b="0" i="0" dirty="0">
                <a:solidFill>
                  <a:srgbClr val="0F1115"/>
                </a:solidFill>
                <a:effectLst/>
                <a:latin typeface="DM Sans" pitchFamily="2" charset="0"/>
              </a:rPr>
              <a:t> Kept features with correlation.</a:t>
            </a:r>
          </a:p>
        </p:txBody>
      </p:sp>
    </p:spTree>
    <p:extLst>
      <p:ext uri="{BB962C8B-B14F-4D97-AF65-F5344CB8AC3E}">
        <p14:creationId xmlns:p14="http://schemas.microsoft.com/office/powerpoint/2010/main" val="245689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C7AF-14A5-BE49-A424-918F26F5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8677"/>
            <a:ext cx="7704000" cy="565744"/>
          </a:xfrm>
        </p:spPr>
        <p:txBody>
          <a:bodyPr/>
          <a:lstStyle/>
          <a:p>
            <a:r>
              <a:rPr lang="en-SG" dirty="0"/>
              <a:t>Correlation Heatmap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7CBD73-A323-1534-A752-F4B1BA1C4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87" y="802566"/>
            <a:ext cx="5768001" cy="377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91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4B21-3966-24B8-B780-DF8BC4AD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</p:spPr>
        <p:txBody>
          <a:bodyPr/>
          <a:lstStyle/>
          <a:p>
            <a:r>
              <a:rPr lang="en-SG" dirty="0"/>
              <a:t>Correlation Heatmap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030B6A-8F5A-43CF-0954-EF24E9A6B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723880"/>
              </p:ext>
            </p:extLst>
          </p:nvPr>
        </p:nvGraphicFramePr>
        <p:xfrm>
          <a:off x="2575775" y="435306"/>
          <a:ext cx="4399024" cy="4755488"/>
        </p:xfrm>
        <a:graphic>
          <a:graphicData uri="http://schemas.openxmlformats.org/drawingml/2006/table">
            <a:tbl>
              <a:tblPr/>
              <a:tblGrid>
                <a:gridCol w="1135190">
                  <a:extLst>
                    <a:ext uri="{9D8B030D-6E8A-4147-A177-3AD203B41FA5}">
                      <a16:colId xmlns:a16="http://schemas.microsoft.com/office/drawing/2014/main" val="416347993"/>
                    </a:ext>
                  </a:extLst>
                </a:gridCol>
                <a:gridCol w="1631917">
                  <a:extLst>
                    <a:ext uri="{9D8B030D-6E8A-4147-A177-3AD203B41FA5}">
                      <a16:colId xmlns:a16="http://schemas.microsoft.com/office/drawing/2014/main" val="955054282"/>
                    </a:ext>
                  </a:extLst>
                </a:gridCol>
                <a:gridCol w="1631917">
                  <a:extLst>
                    <a:ext uri="{9D8B030D-6E8A-4147-A177-3AD203B41FA5}">
                      <a16:colId xmlns:a16="http://schemas.microsoft.com/office/drawing/2014/main" val="530587123"/>
                    </a:ext>
                  </a:extLst>
                </a:gridCol>
              </a:tblGrid>
              <a:tr h="32376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SG" sz="1000" b="1" dirty="0">
                          <a:effectLst/>
                          <a:latin typeface="DM Sans" pitchFamily="2" charset="0"/>
                        </a:rPr>
                        <a:t>Top Predictors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SG" sz="1000" b="1">
                          <a:effectLst/>
                          <a:latin typeface="DM Sans" pitchFamily="2" charset="0"/>
                        </a:rPr>
                        <a:t>Correlation with Target</a:t>
                      </a:r>
                      <a:endParaRPr lang="en-SG" sz="1000" b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SG" sz="1000" b="1" dirty="0">
                          <a:effectLst/>
                          <a:latin typeface="DM Sans" pitchFamily="2" charset="0"/>
                        </a:rPr>
                        <a:t>Interpretation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043179"/>
                  </a:ext>
                </a:extLst>
              </a:tr>
              <a:tr h="74482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SG" sz="900" b="0" dirty="0">
                          <a:effectLst/>
                          <a:latin typeface="DM Sans" pitchFamily="2" charset="0"/>
                        </a:rPr>
                        <a:t>arrivals_ma_3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 dirty="0">
                          <a:effectLst/>
                          <a:latin typeface="DM Sans" pitchFamily="2" charset="0"/>
                        </a:rPr>
                        <a:t>0.91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Many arrivals in the average of last 3 months.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921368"/>
                  </a:ext>
                </a:extLst>
              </a:tr>
              <a:tr h="53429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SG" sz="900" b="0" dirty="0">
                          <a:effectLst/>
                          <a:latin typeface="DM Sans" pitchFamily="2" charset="0"/>
                        </a:rPr>
                        <a:t>arrivals_ma_6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 dirty="0">
                          <a:effectLst/>
                          <a:latin typeface="DM Sans" pitchFamily="2" charset="0"/>
                        </a:rPr>
                        <a:t>0.85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The past 6 months the arrivals are not bad as well.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150810"/>
                  </a:ext>
                </a:extLst>
              </a:tr>
              <a:tr h="53429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SG" sz="900" b="0" dirty="0" err="1">
                          <a:effectLst/>
                          <a:latin typeface="DM Sans" pitchFamily="2" charset="0"/>
                        </a:rPr>
                        <a:t>arrivals_available_room_nights_ratio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>
                          <a:effectLst/>
                          <a:latin typeface="DM Sans" pitchFamily="2" charset="0"/>
                        </a:rPr>
                        <a:t>0.81</a:t>
                      </a:r>
                      <a:endParaRPr lang="en-SG" sz="1000" b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Supply demand pressure, more tourists per available room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736783"/>
                  </a:ext>
                </a:extLst>
              </a:tr>
              <a:tr h="74482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SG" sz="900" b="0" dirty="0">
                          <a:effectLst/>
                          <a:latin typeface="DM Sans" pitchFamily="2" charset="0"/>
                        </a:rPr>
                        <a:t>arrivals_lag_1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 dirty="0">
                          <a:effectLst/>
                          <a:latin typeface="DM Sans" pitchFamily="2" charset="0"/>
                        </a:rPr>
                        <a:t>0.79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Last months arrival should be continued in this month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238745"/>
                  </a:ext>
                </a:extLst>
              </a:tr>
              <a:tr h="53429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SG" sz="900" b="0" dirty="0" err="1">
                          <a:effectLst/>
                          <a:latin typeface="DM Sans" pitchFamily="2" charset="0"/>
                        </a:rPr>
                        <a:t>Gross_Lettings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79779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1" dirty="0">
                          <a:effectLst/>
                          <a:latin typeface="DM Sans" pitchFamily="2" charset="0"/>
                        </a:rPr>
                        <a:t>0.78</a:t>
                      </a:r>
                      <a:endParaRPr lang="en-SG" sz="1000" b="0" dirty="0">
                        <a:effectLst/>
                        <a:latin typeface="DM Sans" pitchFamily="2" charset="0"/>
                      </a:endParaRPr>
                    </a:p>
                  </a:txBody>
                  <a:tcPr marL="106372" marR="106372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SG" sz="1000" b="0" dirty="0">
                          <a:effectLst/>
                          <a:latin typeface="DM Sans" pitchFamily="2" charset="0"/>
                        </a:rPr>
                        <a:t>Crowdedness metric—how full are hotels per night</a:t>
                      </a:r>
                    </a:p>
                  </a:txBody>
                  <a:tcPr marL="106372" marR="79779" marT="66482" marB="66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92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972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D6F2-D0E7-6DED-64F8-E97838B3C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Feature Importance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F700A-6CF9-F7AA-6C01-2C5AA772C75B}"/>
              </a:ext>
            </a:extLst>
          </p:cNvPr>
          <p:cNvSpPr txBox="1"/>
          <p:nvPr/>
        </p:nvSpPr>
        <p:spPr>
          <a:xfrm>
            <a:off x="2016285" y="1368311"/>
            <a:ext cx="52528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0" i="1" dirty="0">
                <a:solidFill>
                  <a:srgbClr val="0F1115"/>
                </a:solidFill>
                <a:effectLst/>
                <a:latin typeface="DM Sans" pitchFamily="2" charset="0"/>
              </a:rPr>
              <a:t>The model identified </a:t>
            </a:r>
            <a:r>
              <a:rPr lang="en-SG" sz="1200" b="1" i="1" dirty="0">
                <a:solidFill>
                  <a:srgbClr val="0F1115"/>
                </a:solidFill>
                <a:effectLst/>
                <a:latin typeface="DM Sans" pitchFamily="2" charset="0"/>
              </a:rPr>
              <a:t>moving averages</a:t>
            </a:r>
            <a:r>
              <a:rPr lang="en-SG" sz="1200" b="0" i="1" dirty="0">
                <a:solidFill>
                  <a:srgbClr val="0F1115"/>
                </a:solidFill>
                <a:effectLst/>
                <a:latin typeface="DM Sans" pitchFamily="2" charset="0"/>
              </a:rPr>
              <a:t> (3-month and 6-month) as the most important predictors, confirming that underlying trends matter more than short-term fluctuations. </a:t>
            </a:r>
            <a:r>
              <a:rPr lang="en-SG" sz="1200" b="1" i="1" dirty="0">
                <a:solidFill>
                  <a:srgbClr val="0F1115"/>
                </a:solidFill>
                <a:effectLst/>
                <a:latin typeface="DM Sans" pitchFamily="2" charset="0"/>
              </a:rPr>
              <a:t>Lagged features</a:t>
            </a:r>
            <a:r>
              <a:rPr lang="en-SG" sz="1200" b="0" i="1" dirty="0">
                <a:solidFill>
                  <a:srgbClr val="0F1115"/>
                </a:solidFill>
                <a:effectLst/>
                <a:latin typeface="DM Sans" pitchFamily="2" charset="0"/>
              </a:rPr>
              <a:t> also played a key role, showing that tourism has strong momentum—past arrivals influence future arrivals. </a:t>
            </a:r>
            <a:r>
              <a:rPr lang="en-SG" sz="1200" b="1" i="1" dirty="0">
                <a:solidFill>
                  <a:srgbClr val="0F1115"/>
                </a:solidFill>
                <a:effectLst/>
                <a:latin typeface="DM Sans" pitchFamily="2" charset="0"/>
              </a:rPr>
              <a:t>Engineered ratio features</a:t>
            </a:r>
            <a:r>
              <a:rPr lang="en-SG" sz="1200" b="0" i="1" dirty="0">
                <a:solidFill>
                  <a:srgbClr val="0F1115"/>
                </a:solidFill>
                <a:effectLst/>
                <a:latin typeface="DM Sans" pitchFamily="2" charset="0"/>
              </a:rPr>
              <a:t>—such as arrivals to available room nights—captured supply-demand pressure, highlighting how hotel capacity constraints affect tourist flows. </a:t>
            </a:r>
            <a:endParaRPr lang="en-SG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062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8A90-1187-FBF8-F194-8879351FD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999050"/>
            <a:ext cx="7704000" cy="572700"/>
          </a:xfrm>
        </p:spPr>
        <p:txBody>
          <a:bodyPr/>
          <a:lstStyle/>
          <a:p>
            <a:r>
              <a:rPr lang="en-SG" dirty="0"/>
              <a:t>Part  4</a:t>
            </a:r>
          </a:p>
        </p:txBody>
      </p:sp>
    </p:spTree>
    <p:extLst>
      <p:ext uri="{BB962C8B-B14F-4D97-AF65-F5344CB8AC3E}">
        <p14:creationId xmlns:p14="http://schemas.microsoft.com/office/powerpoint/2010/main" val="1235026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results</a:t>
            </a:r>
            <a:endParaRPr dirty="0"/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-24760" y="1115386"/>
            <a:ext cx="6746782" cy="3289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SG" dirty="0"/>
              <a:t>Model Comparison      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Linear Regression is always the third worst model in my prediction.</a:t>
            </a:r>
          </a:p>
          <a:p>
            <a:pPr marL="139700" lvl="0" indent="0" algn="l" rtl="0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While Decision Tree works best on R2 score performance score of 0.904, and third best for MAE, RMSE and R2 score overfitting. Score of 28.2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 dirty="0"/>
              <a:t>B</a:t>
            </a:r>
            <a:r>
              <a:rPr lang="en" dirty="0"/>
              <a:t>illion, 98.4 K respectively. Opposite from Linear Regression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Random Forest is my best model here. Tops R2 score, RMSE and 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R2 overfitting. Only comes third best for MAE.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 dirty="0"/>
              <a:t>Performance metrics</a:t>
            </a:r>
          </a:p>
          <a:p>
            <a:pPr lvl="0"/>
            <a:r>
              <a:rPr lang="en-SG" b="1" dirty="0"/>
              <a:t>R²</a:t>
            </a:r>
            <a:r>
              <a:rPr lang="en-SG" dirty="0"/>
              <a:t> – Higher is better.</a:t>
            </a:r>
          </a:p>
          <a:p>
            <a:pPr lvl="0"/>
            <a:r>
              <a:rPr lang="en-SG" b="1" dirty="0"/>
              <a:t>RMSE</a:t>
            </a:r>
            <a:r>
              <a:rPr lang="en-SG" dirty="0"/>
              <a:t> – Lower prediction error is better.</a:t>
            </a:r>
          </a:p>
          <a:p>
            <a:pPr lvl="0"/>
            <a:r>
              <a:rPr lang="en-SG" b="1" dirty="0"/>
              <a:t>MAE</a:t>
            </a:r>
            <a:r>
              <a:rPr lang="en-SG" dirty="0"/>
              <a:t> – Lower average error is better</a:t>
            </a:r>
            <a:endParaRPr dirty="0"/>
          </a:p>
        </p:txBody>
      </p:sp>
      <p:grpSp>
        <p:nvGrpSpPr>
          <p:cNvPr id="464" name="Google Shape;464;p4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465" name="Google Shape;465;p42"/>
            <p:cNvSpPr/>
            <p:nvPr/>
          </p:nvSpPr>
          <p:spPr>
            <a:xfrm>
              <a:off x="7368520" y="988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2"/>
            <p:cNvSpPr/>
            <p:nvPr/>
          </p:nvSpPr>
          <p:spPr>
            <a:xfrm rot="10800000" flipH="1">
              <a:off x="6036409" y="19621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7309474" y="21661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6269702" y="-4457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5830483" y="42158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6269683" y="13325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8430764" y="234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7309467" y="26182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7962441" y="131801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 rot="10800000" flipH="1">
              <a:off x="6351880" y="311086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2"/>
            <p:cNvSpPr/>
            <p:nvPr/>
          </p:nvSpPr>
          <p:spPr>
            <a:xfrm rot="10800000" flipH="1">
              <a:off x="6790284" y="35485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2"/>
            <p:cNvSpPr/>
            <p:nvPr/>
          </p:nvSpPr>
          <p:spPr>
            <a:xfrm rot="10800000" flipH="1">
              <a:off x="5430930" y="46509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8678783" y="266882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8430773" y="22359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2"/>
            <p:cNvSpPr/>
            <p:nvPr/>
          </p:nvSpPr>
          <p:spPr>
            <a:xfrm rot="10800000" flipH="1">
              <a:off x="8119787" y="36369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2"/>
            <p:cNvSpPr/>
            <p:nvPr/>
          </p:nvSpPr>
          <p:spPr>
            <a:xfrm rot="10800000" flipH="1">
              <a:off x="7697255" y="41124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6628072" y="11249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2"/>
            <p:cNvSpPr/>
            <p:nvPr/>
          </p:nvSpPr>
          <p:spPr>
            <a:xfrm rot="10800000" flipH="1">
              <a:off x="7825159" y="-2514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results evidences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35F87-C265-1126-DBB3-3F0DF789F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98" y="837127"/>
            <a:ext cx="7418403" cy="438364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3"/>
          <p:cNvSpPr/>
          <p:nvPr/>
        </p:nvSpPr>
        <p:spPr>
          <a:xfrm>
            <a:off x="1401725" y="1542325"/>
            <a:ext cx="1246800" cy="1246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725" name="Google Shape;725;p53"/>
          <p:cNvSpPr/>
          <p:nvPr/>
        </p:nvSpPr>
        <p:spPr>
          <a:xfrm flipH="1">
            <a:off x="1333775" y="1474025"/>
            <a:ext cx="1382700" cy="1382700"/>
          </a:xfrm>
          <a:prstGeom prst="blockArc">
            <a:avLst>
              <a:gd name="adj1" fmla="val 18009875"/>
              <a:gd name="adj2" fmla="val 16203237"/>
              <a:gd name="adj3" fmla="val 1181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53"/>
          <p:cNvSpPr/>
          <p:nvPr/>
        </p:nvSpPr>
        <p:spPr>
          <a:xfrm>
            <a:off x="3948600" y="1542325"/>
            <a:ext cx="1246800" cy="1246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727" name="Google Shape;727;p53"/>
          <p:cNvSpPr/>
          <p:nvPr/>
        </p:nvSpPr>
        <p:spPr>
          <a:xfrm flipH="1">
            <a:off x="3880650" y="1474025"/>
            <a:ext cx="1382700" cy="1382700"/>
          </a:xfrm>
          <a:prstGeom prst="blockArc">
            <a:avLst>
              <a:gd name="adj1" fmla="val 13003544"/>
              <a:gd name="adj2" fmla="val 16446498"/>
              <a:gd name="adj3" fmla="val 886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53"/>
          <p:cNvSpPr/>
          <p:nvPr/>
        </p:nvSpPr>
        <p:spPr>
          <a:xfrm>
            <a:off x="6495475" y="1542325"/>
            <a:ext cx="1246800" cy="1246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729" name="Google Shape;729;p53"/>
          <p:cNvSpPr/>
          <p:nvPr/>
        </p:nvSpPr>
        <p:spPr>
          <a:xfrm flipH="1">
            <a:off x="6427525" y="1474025"/>
            <a:ext cx="1382700" cy="1382700"/>
          </a:xfrm>
          <a:prstGeom prst="blockArc">
            <a:avLst>
              <a:gd name="adj1" fmla="val 10772280"/>
              <a:gd name="adj2" fmla="val 16203237"/>
              <a:gd name="adj3" fmla="val 1181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53"/>
          <p:cNvSpPr txBox="1">
            <a:spLocks noGrp="1"/>
          </p:cNvSpPr>
          <p:nvPr>
            <p:ph type="title"/>
          </p:nvPr>
        </p:nvSpPr>
        <p:spPr>
          <a:xfrm>
            <a:off x="720000" y="96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 dirty="0"/>
              <a:t>Performance metrics for Random Forest</a:t>
            </a:r>
            <a:br>
              <a:rPr lang="en-SG" sz="2800" dirty="0"/>
            </a:br>
            <a:r>
              <a:rPr lang="en-SG" sz="2800" dirty="0"/>
              <a:t>(best model)</a:t>
            </a:r>
            <a:br>
              <a:rPr lang="en-SG" dirty="0"/>
            </a:br>
            <a:endParaRPr dirty="0"/>
          </a:p>
        </p:txBody>
      </p:sp>
      <p:sp>
        <p:nvSpPr>
          <p:cNvPr id="732" name="Google Shape;732;p53"/>
          <p:cNvSpPr txBox="1">
            <a:spLocks noGrp="1"/>
          </p:cNvSpPr>
          <p:nvPr>
            <p:ph type="subTitle" idx="4294967295"/>
          </p:nvPr>
        </p:nvSpPr>
        <p:spPr>
          <a:xfrm>
            <a:off x="787097" y="2883332"/>
            <a:ext cx="2583431" cy="12744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buNone/>
            </a:pPr>
            <a:r>
              <a:rPr lang="en-SG" sz="2400" b="1" dirty="0"/>
              <a:t>R² Score</a:t>
            </a:r>
            <a:r>
              <a:rPr lang="en-SG" sz="2400" dirty="0"/>
              <a:t>: 0.934</a:t>
            </a:r>
          </a:p>
          <a:p>
            <a:pPr marL="0" lvl="0" indent="0" algn="ctr">
              <a:buNone/>
            </a:pPr>
            <a:r>
              <a:rPr lang="en-SG" sz="2400" b="1" dirty="0">
                <a:latin typeface="Outfit"/>
                <a:ea typeface="Outfit"/>
                <a:cs typeface="Outfit"/>
                <a:sym typeface="Outfit"/>
              </a:rPr>
              <a:t>(</a:t>
            </a:r>
            <a:r>
              <a:rPr lang="en-SG" sz="2400" dirty="0">
                <a:latin typeface="Outfit"/>
                <a:ea typeface="Outfit"/>
                <a:cs typeface="Outfit"/>
                <a:sym typeface="Outfit"/>
              </a:rPr>
              <a:t>2.dp rounded off)</a:t>
            </a:r>
            <a:endParaRPr sz="2400" dirty="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34" name="Google Shape;734;p53"/>
          <p:cNvSpPr txBox="1">
            <a:spLocks noGrp="1"/>
          </p:cNvSpPr>
          <p:nvPr>
            <p:ph type="subTitle" idx="4294967295"/>
          </p:nvPr>
        </p:nvSpPr>
        <p:spPr>
          <a:xfrm>
            <a:off x="3491938" y="2856725"/>
            <a:ext cx="2353500" cy="12744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Outfit"/>
                <a:ea typeface="Outfit"/>
                <a:cs typeface="Outfit"/>
                <a:sym typeface="Outfit"/>
              </a:rPr>
              <a:t>RMSE: </a:t>
            </a:r>
            <a:r>
              <a:rPr lang="en" sz="2400" dirty="0">
                <a:latin typeface="Outfit"/>
                <a:ea typeface="Outfit"/>
                <a:cs typeface="Outfit"/>
                <a:sym typeface="Outfit"/>
              </a:rPr>
              <a:t>19.6 billion, rounded off</a:t>
            </a:r>
            <a:endParaRPr sz="2400" dirty="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36" name="Google Shape;736;p53"/>
          <p:cNvSpPr txBox="1">
            <a:spLocks noGrp="1"/>
          </p:cNvSpPr>
          <p:nvPr>
            <p:ph type="subTitle" idx="4294967295"/>
          </p:nvPr>
        </p:nvSpPr>
        <p:spPr>
          <a:xfrm>
            <a:off x="5939777" y="2932313"/>
            <a:ext cx="2353500" cy="8485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Outfit"/>
                <a:ea typeface="Outfit"/>
                <a:cs typeface="Outfit"/>
                <a:sym typeface="Outfit"/>
              </a:rPr>
              <a:t>MAE: </a:t>
            </a:r>
            <a:r>
              <a:rPr lang="en" sz="2400" dirty="0">
                <a:latin typeface="Outfit"/>
                <a:ea typeface="Outfit"/>
                <a:cs typeface="Outfit"/>
                <a:sym typeface="Outfit"/>
              </a:rPr>
              <a:t>81.3 k,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 dirty="0">
                <a:latin typeface="Outfit"/>
                <a:ea typeface="Outfit"/>
                <a:cs typeface="Outfit"/>
                <a:sym typeface="Outfit"/>
              </a:rPr>
              <a:t>r</a:t>
            </a:r>
            <a:r>
              <a:rPr lang="en" sz="2400" dirty="0">
                <a:latin typeface="Outfit"/>
                <a:ea typeface="Outfit"/>
                <a:cs typeface="Outfit"/>
                <a:sym typeface="Outfit"/>
              </a:rPr>
              <a:t>ounded off</a:t>
            </a:r>
            <a:endParaRPr sz="2400" dirty="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37" name="Google Shape;737;p53"/>
          <p:cNvSpPr txBox="1">
            <a:spLocks noGrp="1"/>
          </p:cNvSpPr>
          <p:nvPr>
            <p:ph type="title" idx="4294967295"/>
          </p:nvPr>
        </p:nvSpPr>
        <p:spPr>
          <a:xfrm>
            <a:off x="4063670" y="1879375"/>
            <a:ext cx="1016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14.9%</a:t>
            </a:r>
            <a:endParaRPr sz="2400" dirty="0"/>
          </a:p>
        </p:txBody>
      </p:sp>
      <p:sp>
        <p:nvSpPr>
          <p:cNvPr id="738" name="Google Shape;738;p53"/>
          <p:cNvSpPr txBox="1">
            <a:spLocks noGrp="1"/>
          </p:cNvSpPr>
          <p:nvPr>
            <p:ph type="title" idx="4294967295"/>
          </p:nvPr>
        </p:nvSpPr>
        <p:spPr>
          <a:xfrm>
            <a:off x="6608177" y="1879375"/>
            <a:ext cx="1016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25%</a:t>
            </a:r>
            <a:endParaRPr sz="2400"/>
          </a:p>
        </p:txBody>
      </p:sp>
      <p:sp>
        <p:nvSpPr>
          <p:cNvPr id="739" name="Google Shape;739;p53"/>
          <p:cNvSpPr txBox="1">
            <a:spLocks noGrp="1"/>
          </p:cNvSpPr>
          <p:nvPr>
            <p:ph type="title" idx="4294967295"/>
          </p:nvPr>
        </p:nvSpPr>
        <p:spPr>
          <a:xfrm>
            <a:off x="1519125" y="1879375"/>
            <a:ext cx="1016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93.4%</a:t>
            </a:r>
            <a:endParaRPr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A3F2-9EDC-4F6C-5AA1-527A0DF4E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Performance Metric evidences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6B5C0-A302-4F97-6E60-9617B8AD3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92" y="1197737"/>
            <a:ext cx="7771468" cy="302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83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4639-BB3B-E872-508F-F7B94FE9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Most Important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C5E60-B359-5A66-B657-CA07BA8007D3}"/>
              </a:ext>
            </a:extLst>
          </p:cNvPr>
          <p:cNvSpPr txBox="1"/>
          <p:nvPr/>
        </p:nvSpPr>
        <p:spPr>
          <a:xfrm>
            <a:off x="663262" y="1082235"/>
            <a:ext cx="694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>
              <a:latin typeface="DM Sans" pitchFamily="2" charset="0"/>
            </a:endParaRPr>
          </a:p>
          <a:p>
            <a:endParaRPr lang="en-SG" dirty="0">
              <a:latin typeface="DM 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84E526-3F52-ABFD-23B5-A1D50713F4A1}"/>
              </a:ext>
            </a:extLst>
          </p:cNvPr>
          <p:cNvSpPr txBox="1"/>
          <p:nvPr/>
        </p:nvSpPr>
        <p:spPr>
          <a:xfrm>
            <a:off x="2162041" y="1709199"/>
            <a:ext cx="4826356" cy="225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solidFill>
                  <a:srgbClr val="0F1115"/>
                </a:solidFill>
                <a:latin typeface="DM Sans" pitchFamily="2" charset="0"/>
              </a:rPr>
              <a:t>    </a:t>
            </a:r>
            <a:r>
              <a:rPr lang="en-SG" sz="1200" b="1" i="0" dirty="0">
                <a:solidFill>
                  <a:srgbClr val="0F1115"/>
                </a:solidFill>
                <a:effectLst/>
                <a:latin typeface="DM Sans" pitchFamily="2" charset="0"/>
              </a:rPr>
              <a:t> Past arrivals predict future arrivals.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200" b="1" i="0" dirty="0">
                <a:solidFill>
                  <a:srgbClr val="0F1115"/>
                </a:solidFill>
                <a:effectLst/>
                <a:latin typeface="DM Sans" pitchFamily="2" charset="0"/>
              </a:rPr>
              <a:t>Trends beat spikes.</a:t>
            </a:r>
            <a:r>
              <a:rPr lang="en-SG" sz="1200" b="0" i="0" dirty="0">
                <a:solidFill>
                  <a:srgbClr val="0F1115"/>
                </a:solidFill>
                <a:effectLst/>
                <a:latin typeface="DM Sans" pitchFamily="2" charset="0"/>
              </a:rPr>
              <a:t> Moving averages are the top features.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200" b="1" i="0" dirty="0">
                <a:solidFill>
                  <a:srgbClr val="0F1115"/>
                </a:solidFill>
                <a:effectLst/>
                <a:latin typeface="DM Sans" pitchFamily="2" charset="0"/>
              </a:rPr>
              <a:t>Supply-demand matters.</a:t>
            </a:r>
            <a:r>
              <a:rPr lang="en-SG" sz="1200" b="0" i="0" dirty="0">
                <a:solidFill>
                  <a:srgbClr val="0F1115"/>
                </a:solidFill>
                <a:effectLst/>
                <a:latin typeface="DM Sans" pitchFamily="2" charset="0"/>
              </a:rPr>
              <a:t> Crowded hotels signal strong demand.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200" b="1" i="0" dirty="0">
                <a:solidFill>
                  <a:srgbClr val="0F1115"/>
                </a:solidFill>
                <a:effectLst/>
                <a:latin typeface="DM Sans" pitchFamily="2" charset="0"/>
              </a:rPr>
              <a:t>Revenue confirms activity.</a:t>
            </a:r>
            <a:r>
              <a:rPr lang="en-SG" sz="1200" b="0" i="0" dirty="0">
                <a:solidFill>
                  <a:srgbClr val="0F1115"/>
                </a:solidFill>
                <a:effectLst/>
                <a:latin typeface="DM Sans" pitchFamily="2" charset="0"/>
              </a:rPr>
              <a:t> Hotel revenue is a useful indicator.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200" b="1" i="0" dirty="0">
                <a:solidFill>
                  <a:srgbClr val="0F1115"/>
                </a:solidFill>
                <a:effectLst/>
                <a:latin typeface="DM Sans" pitchFamily="2" charset="0"/>
              </a:rPr>
              <a:t>Singapore is year-round.</a:t>
            </a:r>
            <a:r>
              <a:rPr lang="en-SG" sz="1200" b="0" i="0" dirty="0">
                <a:solidFill>
                  <a:srgbClr val="0F1115"/>
                </a:solidFill>
                <a:effectLst/>
                <a:latin typeface="DM Sans" pitchFamily="2" charset="0"/>
              </a:rPr>
              <a:t> Seasonality is less important.</a:t>
            </a:r>
          </a:p>
        </p:txBody>
      </p:sp>
    </p:spTree>
    <p:extLst>
      <p:ext uri="{BB962C8B-B14F-4D97-AF65-F5344CB8AC3E}">
        <p14:creationId xmlns:p14="http://schemas.microsoft.com/office/powerpoint/2010/main" val="3175946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graphicFrame>
        <p:nvGraphicFramePr>
          <p:cNvPr id="1013" name="Google Shape;1013;p67"/>
          <p:cNvGraphicFramePr/>
          <p:nvPr>
            <p:extLst>
              <p:ext uri="{D42A27DB-BD31-4B8C-83A1-F6EECF244321}">
                <p14:modId xmlns:p14="http://schemas.microsoft.com/office/powerpoint/2010/main" val="4229225480"/>
              </p:ext>
            </p:extLst>
          </p:nvPr>
        </p:nvGraphicFramePr>
        <p:xfrm>
          <a:off x="720000" y="1247288"/>
          <a:ext cx="3648200" cy="3915285"/>
        </p:xfrm>
        <a:graphic>
          <a:graphicData uri="http://schemas.openxmlformats.org/drawingml/2006/table">
            <a:tbl>
              <a:tblPr>
                <a:noFill/>
                <a:tableStyleId>{ABA8E0D5-50BF-4E48-8F86-20DAB3A2D3E6}</a:tableStyleId>
              </a:tblPr>
              <a:tblGrid>
                <a:gridCol w="364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85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800" b="1" dirty="0"/>
                        <a:t>My approach to doing this project code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45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SG" sz="1400" dirty="0">
                          <a:solidFill>
                            <a:schemeClr val="tx1"/>
                          </a:solidFill>
                          <a:latin typeface="DM Sans" pitchFamily="2" charset="0"/>
                        </a:rPr>
                        <a:t>I would want to understand what each line of code  means when I don’t understand and how it helps in my overall project. </a:t>
                      </a:r>
                    </a:p>
                    <a:p>
                      <a:pPr marL="0" indent="0">
                        <a:buNone/>
                      </a:pPr>
                      <a:endParaRPr lang="en-SG" sz="1400" dirty="0">
                        <a:solidFill>
                          <a:schemeClr val="tx1"/>
                        </a:solidFill>
                        <a:latin typeface="DM Sans" pitchFamily="2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SG" sz="1400" dirty="0">
                          <a:solidFill>
                            <a:schemeClr val="tx1"/>
                          </a:solidFill>
                          <a:latin typeface="DM Sans" pitchFamily="2" charset="0"/>
                        </a:rPr>
                        <a:t>I would do markdown cells below each cell that has lines of code I don’t understand. I would ask the AI to explain to me in the simplest way first, and link it to what I have learn so far, or real life concepts</a:t>
                      </a:r>
                      <a:endParaRPr dirty="0">
                        <a:solidFill>
                          <a:schemeClr val="tx1"/>
                        </a:solidFill>
                        <a:latin typeface="DM Sans" pitchFamily="2" charset="0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14" name="Google Shape;1014;p67"/>
          <p:cNvGraphicFramePr/>
          <p:nvPr>
            <p:extLst>
              <p:ext uri="{D42A27DB-BD31-4B8C-83A1-F6EECF244321}">
                <p14:modId xmlns:p14="http://schemas.microsoft.com/office/powerpoint/2010/main" val="381728188"/>
              </p:ext>
            </p:extLst>
          </p:nvPr>
        </p:nvGraphicFramePr>
        <p:xfrm>
          <a:off x="4775800" y="1247287"/>
          <a:ext cx="3648200" cy="3488565"/>
        </p:xfrm>
        <a:graphic>
          <a:graphicData uri="http://schemas.openxmlformats.org/drawingml/2006/table">
            <a:tbl>
              <a:tblPr>
                <a:noFill/>
                <a:tableStyleId>{ABA8E0D5-50BF-4E48-8F86-20DAB3A2D3E6}</a:tableStyleId>
              </a:tblPr>
              <a:tblGrid>
                <a:gridCol w="364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21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800" b="1" dirty="0"/>
                        <a:t>Improvements from my work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6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 managed to fix directory error of my csv files to everybody can view. I removed the r’ from every csv  copied path.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 removed </a:t>
                      </a:r>
                      <a:r>
                        <a:rPr lang="en-SG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NaN</a:t>
                      </a:r>
                      <a:r>
                        <a:rPr lang="en-SG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values from Test_R2 column to be able to run and do calculations for rest of the code.  </a:t>
                      </a:r>
                      <a:endParaRPr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FEE4-1D85-7D90-EAAD-15DD4018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Conclusion (for project)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AAF7C-EB32-1A87-A0A4-B99AEB44ABFE}"/>
              </a:ext>
            </a:extLst>
          </p:cNvPr>
          <p:cNvSpPr txBox="1"/>
          <p:nvPr/>
        </p:nvSpPr>
        <p:spPr>
          <a:xfrm>
            <a:off x="2016285" y="1369359"/>
            <a:ext cx="5111430" cy="4129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This project successfully built a </a:t>
            </a:r>
            <a:r>
              <a:rPr lang="en-SG" b="1" i="0" dirty="0">
                <a:solidFill>
                  <a:srgbClr val="0F1115"/>
                </a:solidFill>
                <a:effectLst/>
                <a:latin typeface="DM Sans" pitchFamily="2" charset="0"/>
              </a:rPr>
              <a:t>Random Forest model</a:t>
            </a: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 that predicts international visitor arrivals to Singapore with </a:t>
            </a:r>
            <a:r>
              <a:rPr lang="en-SG" b="1" i="0" dirty="0">
                <a:solidFill>
                  <a:srgbClr val="0F1115"/>
                </a:solidFill>
                <a:effectLst/>
                <a:latin typeface="DM Sans" pitchFamily="2" charset="0"/>
              </a:rPr>
              <a:t>93.4% accuracy</a:t>
            </a:r>
            <a:r>
              <a:rPr lang="en-SG" dirty="0">
                <a:solidFill>
                  <a:srgbClr val="0F1115"/>
                </a:solidFill>
                <a:latin typeface="DM Sans" pitchFamily="2" charset="0"/>
              </a:rPr>
              <a:t> for STB, </a:t>
            </a: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proving that </a:t>
            </a:r>
            <a:r>
              <a:rPr lang="en-SG" b="1" i="0" dirty="0">
                <a:solidFill>
                  <a:srgbClr val="0F1115"/>
                </a:solidFill>
                <a:effectLst/>
                <a:latin typeface="DM Sans" pitchFamily="2" charset="0"/>
              </a:rPr>
              <a:t>past tourism trends and hotel capacity constraints</a:t>
            </a: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 are the most powerful drivers of future arrivals.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By engineering features like </a:t>
            </a:r>
            <a:r>
              <a:rPr lang="en-SG" b="1" i="0" dirty="0">
                <a:solidFill>
                  <a:srgbClr val="0F1115"/>
                </a:solidFill>
                <a:effectLst/>
                <a:latin typeface="DM Sans" pitchFamily="2" charset="0"/>
              </a:rPr>
              <a:t>moving averages, lagged arrivals, and supply-demand ratios</a:t>
            </a: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, the model captures both </a:t>
            </a:r>
            <a:r>
              <a:rPr lang="en-SG" b="1" i="0" dirty="0">
                <a:solidFill>
                  <a:srgbClr val="0F1115"/>
                </a:solidFill>
                <a:effectLst/>
                <a:latin typeface="DM Sans" pitchFamily="2" charset="0"/>
              </a:rPr>
              <a:t>momentum and crowding pressure</a:t>
            </a: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—offering the Singapore Tourism Board a practical tool for </a:t>
            </a:r>
            <a:r>
              <a:rPr lang="en-SG" b="1" i="0" dirty="0">
                <a:solidFill>
                  <a:srgbClr val="0F1115"/>
                </a:solidFill>
                <a:effectLst/>
                <a:latin typeface="DM Sans" pitchFamily="2" charset="0"/>
              </a:rPr>
              <a:t>short-term forecasting and capacity planning</a:t>
            </a: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 </a:t>
            </a:r>
            <a:r>
              <a:rPr lang="en-SG" dirty="0">
                <a:solidFill>
                  <a:srgbClr val="0F1115"/>
                </a:solidFill>
                <a:latin typeface="DM Sans" pitchFamily="2" charset="0"/>
              </a:rPr>
              <a:t>F</a:t>
            </a: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uture improvements like </a:t>
            </a:r>
            <a:r>
              <a:rPr lang="en-SG" b="1" i="0" dirty="0">
                <a:solidFill>
                  <a:srgbClr val="0F1115"/>
                </a:solidFill>
                <a:effectLst/>
                <a:latin typeface="DM Sans" pitchFamily="2" charset="0"/>
              </a:rPr>
              <a:t>real-time data and deep learning</a:t>
            </a: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 can further enhance predictions and support </a:t>
            </a:r>
            <a:r>
              <a:rPr lang="en-SG" b="1" i="0" dirty="0">
                <a:solidFill>
                  <a:srgbClr val="0F1115"/>
                </a:solidFill>
                <a:effectLst/>
                <a:latin typeface="DM Sans" pitchFamily="2" charset="0"/>
              </a:rPr>
              <a:t>data-driven decision-making</a:t>
            </a:r>
            <a:r>
              <a:rPr lang="en-SG" b="0" i="0" dirty="0">
                <a:solidFill>
                  <a:srgbClr val="0F1115"/>
                </a:solidFill>
                <a:effectLst/>
                <a:latin typeface="DM Sans" pitchFamily="2" charset="0"/>
              </a:rPr>
              <a:t> for Singapore's tourism sector.</a:t>
            </a:r>
          </a:p>
          <a:p>
            <a:pPr>
              <a:buNone/>
            </a:pPr>
            <a:br>
              <a:rPr lang="en-SG" dirty="0">
                <a:latin typeface="DM Sans" pitchFamily="2" charset="0"/>
              </a:rPr>
            </a:br>
            <a:endParaRPr lang="en-SG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468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46" name="Google Shape;11246;p9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4A2B3A-3A4C-F83F-6521-F537DA09B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995</Words>
  <Application>Microsoft Office PowerPoint</Application>
  <PresentationFormat>On-screen Show (16:9)</PresentationFormat>
  <Paragraphs>135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Nunito Light</vt:lpstr>
      <vt:lpstr>quote-cjk-patch</vt:lpstr>
      <vt:lpstr>Proxima Nova</vt:lpstr>
      <vt:lpstr>Kumbh Sans</vt:lpstr>
      <vt:lpstr>Outfit</vt:lpstr>
      <vt:lpstr>DM Sans</vt:lpstr>
      <vt:lpstr>Data Collection and Analysis - Master of Science in Community Health and Prevention Research by Slidesgo</vt:lpstr>
      <vt:lpstr>Slidesgo Final Pages</vt:lpstr>
      <vt:lpstr>Perform data collection  and preprocessing tasks.</vt:lpstr>
      <vt:lpstr>Problem Statement (4Ws)</vt:lpstr>
      <vt:lpstr>Part  1</vt:lpstr>
      <vt:lpstr>Data Sources</vt:lpstr>
      <vt:lpstr>APIs obtained</vt:lpstr>
      <vt:lpstr>Part  2</vt:lpstr>
      <vt:lpstr>Data Quality Issues</vt:lpstr>
      <vt:lpstr>How I handled them</vt:lpstr>
      <vt:lpstr>Missing Values handling</vt:lpstr>
      <vt:lpstr>How I handled them</vt:lpstr>
      <vt:lpstr>How I handled them</vt:lpstr>
      <vt:lpstr>How I handled them</vt:lpstr>
      <vt:lpstr>Part  3</vt:lpstr>
      <vt:lpstr>Feature Engineering</vt:lpstr>
      <vt:lpstr>Feature Engineering</vt:lpstr>
      <vt:lpstr>Feature Selection</vt:lpstr>
      <vt:lpstr>Correlation Heatmap</vt:lpstr>
      <vt:lpstr>Correlation Heatmap</vt:lpstr>
      <vt:lpstr>Feature Importance</vt:lpstr>
      <vt:lpstr>Part  4</vt:lpstr>
      <vt:lpstr>Model results</vt:lpstr>
      <vt:lpstr>Model results evidences</vt:lpstr>
      <vt:lpstr>Performance metrics for Random Forest (best model) </vt:lpstr>
      <vt:lpstr>Performance Metric evidences</vt:lpstr>
      <vt:lpstr>Most Important Findings</vt:lpstr>
      <vt:lpstr>Conclusion</vt:lpstr>
      <vt:lpstr>Conclusion (for project)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Choy</dc:creator>
  <cp:lastModifiedBy>CHOY CHENGFENG</cp:lastModifiedBy>
  <cp:revision>16</cp:revision>
  <dcterms:modified xsi:type="dcterms:W3CDTF">2026-09-01T09:56:53Z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9995827-27be-4c55-a2a0-b3a723736271_Enabled">
    <vt:lpwstr>true</vt:lpwstr>
  </property>
  <property fmtid="{D5CDD505-2E9C-101B-9397-08002B2CF9AE}" pid="3" name="MSIP_Label_29995827-27be-4c55-a2a0-b3a723736271_SetDate">
    <vt:lpwstr>2026-08-30T03:17:25Z</vt:lpwstr>
  </property>
  <property fmtid="{D5CDD505-2E9C-101B-9397-08002B2CF9AE}" pid="4" name="MSIP_Label_29995827-27be-4c55-a2a0-b3a723736271_Method">
    <vt:lpwstr>Privileged</vt:lpwstr>
  </property>
  <property fmtid="{D5CDD505-2E9C-101B-9397-08002B2CF9AE}" pid="5" name="MSIP_Label_29995827-27be-4c55-a2a0-b3a723736271_Name">
    <vt:lpwstr>CC  Non-Sensitive</vt:lpwstr>
  </property>
  <property fmtid="{D5CDD505-2E9C-101B-9397-08002B2CF9AE}" pid="6" name="MSIP_Label_29995827-27be-4c55-a2a0-b3a723736271_SiteId">
    <vt:lpwstr>13b42c8c-cbcf-4e3d-9d20-f55b7b5ee3c1</vt:lpwstr>
  </property>
  <property fmtid="{D5CDD505-2E9C-101B-9397-08002B2CF9AE}" pid="7" name="MSIP_Label_29995827-27be-4c55-a2a0-b3a723736271_ActionId">
    <vt:lpwstr>3501fc1a-bcc5-444c-aa3d-77181b0aa927</vt:lpwstr>
  </property>
  <property fmtid="{D5CDD505-2E9C-101B-9397-08002B2CF9AE}" pid="8" name="MSIP_Label_29995827-27be-4c55-a2a0-b3a723736271_ContentBits">
    <vt:lpwstr>0</vt:lpwstr>
  </property>
  <property fmtid="{D5CDD505-2E9C-101B-9397-08002B2CF9AE}" pid="9" name="MSIP_Label_29995827-27be-4c55-a2a0-b3a723736271_Tag">
    <vt:lpwstr>10, 0, 1, 1</vt:lpwstr>
  </property>
</Properties>
</file>